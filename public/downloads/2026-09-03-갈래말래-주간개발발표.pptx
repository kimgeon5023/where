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22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02920"/>
            <a:ext cx="100584" cy="100584"/>
          </a:xfrm>
          <a:prstGeom prst="ellipse">
            <a:avLst/>
          </a:prstGeom>
          <a:solidFill>
            <a:srgbClr val="6EA2F7"/>
          </a:solidFill>
          <a:ln w="12700">
            <a:solidFill>
              <a:srgbClr val="6EA2F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901952" y="502920"/>
            <a:ext cx="100584" cy="100584"/>
          </a:xfrm>
          <a:prstGeom prst="ellipse">
            <a:avLst/>
          </a:prstGeom>
          <a:solidFill>
            <a:srgbClr val="35506F"/>
          </a:solidFill>
          <a:ln w="12700">
            <a:solidFill>
              <a:srgbClr val="35506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92424" y="502920"/>
            <a:ext cx="100584" cy="100584"/>
          </a:xfrm>
          <a:prstGeom prst="ellipse">
            <a:avLst/>
          </a:prstGeom>
          <a:solidFill>
            <a:srgbClr val="35506F"/>
          </a:solidFill>
          <a:ln w="12700">
            <a:solidFill>
              <a:srgbClr val="35506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82896" y="502920"/>
            <a:ext cx="100584" cy="100584"/>
          </a:xfrm>
          <a:prstGeom prst="ellipse">
            <a:avLst/>
          </a:prstGeom>
          <a:solidFill>
            <a:srgbClr val="6EA2F7"/>
          </a:solidFill>
          <a:ln w="12700">
            <a:solidFill>
              <a:srgbClr val="6EA2F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73368" y="502920"/>
            <a:ext cx="100584" cy="100584"/>
          </a:xfrm>
          <a:prstGeom prst="ellipse">
            <a:avLst/>
          </a:prstGeom>
          <a:solidFill>
            <a:srgbClr val="35506F"/>
          </a:solidFill>
          <a:ln w="12700">
            <a:solidFill>
              <a:srgbClr val="35506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0" y="502920"/>
            <a:ext cx="100584" cy="100584"/>
          </a:xfrm>
          <a:prstGeom prst="ellipse">
            <a:avLst/>
          </a:prstGeom>
          <a:solidFill>
            <a:srgbClr val="35506F"/>
          </a:solidFill>
          <a:ln w="12700">
            <a:solidFill>
              <a:srgbClr val="35506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54312" y="502920"/>
            <a:ext cx="100584" cy="100584"/>
          </a:xfrm>
          <a:prstGeom prst="ellipse">
            <a:avLst/>
          </a:prstGeom>
          <a:solidFill>
            <a:srgbClr val="6EA2F7"/>
          </a:solidFill>
          <a:ln w="12700">
            <a:solidFill>
              <a:srgbClr val="6EA2F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44784" y="502920"/>
            <a:ext cx="100584" cy="100584"/>
          </a:xfrm>
          <a:prstGeom prst="ellipse">
            <a:avLst/>
          </a:prstGeom>
          <a:solidFill>
            <a:srgbClr val="35506F"/>
          </a:solidFill>
          <a:ln w="12700">
            <a:solidFill>
              <a:srgbClr val="35506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468880"/>
            <a:ext cx="100584" cy="100584"/>
          </a:xfrm>
          <a:prstGeom prst="ellipse">
            <a:avLst/>
          </a:prstGeom>
          <a:solidFill>
            <a:srgbClr val="35506F"/>
          </a:solidFill>
          <a:ln w="12700">
            <a:solidFill>
              <a:srgbClr val="35506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1952" y="2468880"/>
            <a:ext cx="100584" cy="100584"/>
          </a:xfrm>
          <a:prstGeom prst="ellipse">
            <a:avLst/>
          </a:prstGeom>
          <a:solidFill>
            <a:srgbClr val="6EA2F7"/>
          </a:solidFill>
          <a:ln w="12700">
            <a:solidFill>
              <a:srgbClr val="6EA2F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92424" y="2468880"/>
            <a:ext cx="100584" cy="100584"/>
          </a:xfrm>
          <a:prstGeom prst="ellipse">
            <a:avLst/>
          </a:prstGeom>
          <a:solidFill>
            <a:srgbClr val="35506F"/>
          </a:solidFill>
          <a:ln w="12700">
            <a:solidFill>
              <a:srgbClr val="35506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82896" y="2468880"/>
            <a:ext cx="100584" cy="100584"/>
          </a:xfrm>
          <a:prstGeom prst="ellipse">
            <a:avLst/>
          </a:prstGeom>
          <a:solidFill>
            <a:srgbClr val="35506F"/>
          </a:solidFill>
          <a:ln w="12700">
            <a:solidFill>
              <a:srgbClr val="35506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73368" y="2468880"/>
            <a:ext cx="100584" cy="100584"/>
          </a:xfrm>
          <a:prstGeom prst="ellipse">
            <a:avLst/>
          </a:prstGeom>
          <a:solidFill>
            <a:srgbClr val="6EA2F7"/>
          </a:solidFill>
          <a:ln w="12700">
            <a:solidFill>
              <a:srgbClr val="6EA2F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0" y="2468880"/>
            <a:ext cx="100584" cy="100584"/>
          </a:xfrm>
          <a:prstGeom prst="ellipse">
            <a:avLst/>
          </a:prstGeom>
          <a:solidFill>
            <a:srgbClr val="35506F"/>
          </a:solidFill>
          <a:ln w="12700">
            <a:solidFill>
              <a:srgbClr val="35506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54312" y="2468880"/>
            <a:ext cx="100584" cy="100584"/>
          </a:xfrm>
          <a:prstGeom prst="ellipse">
            <a:avLst/>
          </a:prstGeom>
          <a:solidFill>
            <a:srgbClr val="35506F"/>
          </a:solidFill>
          <a:ln w="12700">
            <a:solidFill>
              <a:srgbClr val="35506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844784" y="2468880"/>
            <a:ext cx="100584" cy="100584"/>
          </a:xfrm>
          <a:prstGeom prst="ellipse">
            <a:avLst/>
          </a:prstGeom>
          <a:solidFill>
            <a:srgbClr val="6EA2F7"/>
          </a:solidFill>
          <a:ln w="12700">
            <a:solidFill>
              <a:srgbClr val="6EA2F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4434840"/>
            <a:ext cx="100584" cy="100584"/>
          </a:xfrm>
          <a:prstGeom prst="ellipse">
            <a:avLst/>
          </a:prstGeom>
          <a:solidFill>
            <a:srgbClr val="35506F"/>
          </a:solidFill>
          <a:ln w="12700">
            <a:solidFill>
              <a:srgbClr val="35506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1952" y="4434840"/>
            <a:ext cx="100584" cy="100584"/>
          </a:xfrm>
          <a:prstGeom prst="ellipse">
            <a:avLst/>
          </a:prstGeom>
          <a:solidFill>
            <a:srgbClr val="35506F"/>
          </a:solidFill>
          <a:ln w="12700">
            <a:solidFill>
              <a:srgbClr val="35506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92424" y="4434840"/>
            <a:ext cx="100584" cy="100584"/>
          </a:xfrm>
          <a:prstGeom prst="ellipse">
            <a:avLst/>
          </a:prstGeom>
          <a:solidFill>
            <a:srgbClr val="6EA2F7"/>
          </a:solidFill>
          <a:ln w="12700">
            <a:solidFill>
              <a:srgbClr val="6EA2F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896" y="4434840"/>
            <a:ext cx="100584" cy="100584"/>
          </a:xfrm>
          <a:prstGeom prst="ellipse">
            <a:avLst/>
          </a:prstGeom>
          <a:solidFill>
            <a:srgbClr val="35506F"/>
          </a:solidFill>
          <a:ln w="12700">
            <a:solidFill>
              <a:srgbClr val="35506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3368" y="4434840"/>
            <a:ext cx="100584" cy="100584"/>
          </a:xfrm>
          <a:prstGeom prst="ellipse">
            <a:avLst/>
          </a:prstGeom>
          <a:solidFill>
            <a:srgbClr val="35506F"/>
          </a:solidFill>
          <a:ln w="12700">
            <a:solidFill>
              <a:srgbClr val="35506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4434840"/>
            <a:ext cx="100584" cy="100584"/>
          </a:xfrm>
          <a:prstGeom prst="ellipse">
            <a:avLst/>
          </a:prstGeom>
          <a:solidFill>
            <a:srgbClr val="6EA2F7"/>
          </a:solidFill>
          <a:ln w="12700">
            <a:solidFill>
              <a:srgbClr val="6EA2F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54312" y="4434840"/>
            <a:ext cx="100584" cy="100584"/>
          </a:xfrm>
          <a:prstGeom prst="ellipse">
            <a:avLst/>
          </a:prstGeom>
          <a:solidFill>
            <a:srgbClr val="35506F"/>
          </a:solidFill>
          <a:ln w="12700">
            <a:solidFill>
              <a:srgbClr val="35506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844784" y="4434840"/>
            <a:ext cx="100584" cy="100584"/>
          </a:xfrm>
          <a:prstGeom prst="ellipse">
            <a:avLst/>
          </a:prstGeom>
          <a:solidFill>
            <a:srgbClr val="35506F"/>
          </a:solidFill>
          <a:ln w="12700">
            <a:solidFill>
              <a:srgbClr val="35506F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" y="61264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2878EE"/>
          </a:solidFill>
          <a:ln w="12700">
            <a:solidFill>
              <a:srgbClr val="2878EE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630936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115568" y="65836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갈래말래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85800" y="192024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B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WEEKLY DEVELOPMENT REPORT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58368" y="2322576"/>
            <a:ext cx="7406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여행을 고르는 순간부터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나만의 코스를 완성할 때까지</a:t>
            </a:r>
            <a:endParaRPr lang="en-US" sz="3100" dirty="0"/>
          </a:p>
        </p:txBody>
      </p:sp>
      <p:sp>
        <p:nvSpPr>
          <p:cNvPr id="31" name="Text 29"/>
          <p:cNvSpPr/>
          <p:nvPr/>
        </p:nvSpPr>
        <p:spPr>
          <a:xfrm>
            <a:off x="694944" y="3730752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DD3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 03  |  주간 개발 발표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887968" y="1508760"/>
            <a:ext cx="2148840" cy="3456432"/>
          </a:xfrm>
          <a:prstGeom prst="roundRect">
            <a:avLst>
              <a:gd name="adj" fmla="val 3404"/>
            </a:avLst>
          </a:prstGeom>
          <a:solidFill>
            <a:srgbClr val="2472E8"/>
          </a:solidFill>
          <a:ln w="12700">
            <a:solidFill>
              <a:srgbClr val="2472E8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0" y="2148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SEOUL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ESCAPE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9144000" y="4261104"/>
            <a:ext cx="1700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spc="80" kern="0" dirty="0">
                <a:solidFill>
                  <a:srgbClr val="C8D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SAVE · REVIEW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2878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· PRODUCT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40080" y="704088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822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갈래말래: 서울 여행을 내 취향으로 설계하는 서비스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2252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지역·일정·동행 조건을 바탕으로 장소를 추천하고, 코스와 리뷰를 직접 관리합니다.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7086600" cy="4407408"/>
          </a:xfrm>
          <a:prstGeom prst="roundRect">
            <a:avLst>
              <a:gd name="adj" fmla="val 166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C:\Users\과잘라자과꾸꽐라콱자불라자\Where\presentation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901952"/>
            <a:ext cx="6784848" cy="40690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028432" y="187452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CE4E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028432" y="1874520"/>
            <a:ext cx="73152" cy="1051560"/>
          </a:xfrm>
          <a:prstGeom prst="rect">
            <a:avLst/>
          </a:prstGeom>
          <a:solidFill>
            <a:srgbClr val="2878EE"/>
          </a:solidFill>
          <a:ln w="12700">
            <a:solidFill>
              <a:srgbClr val="2878EE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84464" y="209397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822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맞춤 추천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84464" y="2514600"/>
            <a:ext cx="3063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지역 · 날짜 · 동행 조건으로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개인화된 장소 목록 제공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028432" y="3182112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CE4E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028432" y="3182112"/>
            <a:ext cx="73152" cy="1051560"/>
          </a:xfrm>
          <a:prstGeom prst="rect">
            <a:avLst/>
          </a:prstGeom>
          <a:solidFill>
            <a:srgbClr val="1D9B77"/>
          </a:solidFill>
          <a:ln w="12700">
            <a:solidFill>
              <a:srgbClr val="1D9B77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84464" y="34015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822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 완성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284464" y="3822192"/>
            <a:ext cx="3063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장소를 직접 추가·삭제·정렬하고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코스로 저장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28432" y="4489704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CE4E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028432" y="4489704"/>
            <a:ext cx="73152" cy="1051560"/>
          </a:xfrm>
          <a:prstGeom prst="rect">
            <a:avLst/>
          </a:prstGeom>
          <a:solidFill>
            <a:srgbClr val="8B63D9"/>
          </a:solidFill>
          <a:ln w="12700">
            <a:solidFill>
              <a:srgbClr val="8B63D9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84464" y="47091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822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경험 공유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284464" y="5129784"/>
            <a:ext cx="3063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리뷰를 작성하고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작성한 리뷰를 관리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0080" y="6464808"/>
            <a:ext cx="10927080" cy="0"/>
          </a:xfrm>
          <a:prstGeom prst="line">
            <a:avLst/>
          </a:prstGeom>
          <a:noFill/>
          <a:ln w="10160">
            <a:solidFill>
              <a:srgbClr val="DCE4E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6547104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갈래말래 · Weekly Development Report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11064240" y="6547104"/>
            <a:ext cx="502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2878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· LAST WEEK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40080" y="704088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822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기능의 “저장”과 서비스 운영 기반을 만들었습니다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2252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8월 28일 ~ 9월 1일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1261872" cy="292608"/>
          </a:xfrm>
          <a:prstGeom prst="roundRect">
            <a:avLst>
              <a:gd name="adj" fmla="val 25000"/>
            </a:avLst>
          </a:prstGeom>
          <a:solidFill>
            <a:srgbClr val="E9F8F2"/>
          </a:solidFill>
          <a:ln w="12700">
            <a:solidFill>
              <a:srgbClr val="E9F8F2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55064"/>
            <a:ext cx="1261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9B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지난주 완료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640080" y="2066544"/>
            <a:ext cx="3456432" cy="3611880"/>
          </a:xfrm>
          <a:prstGeom prst="roundRect">
            <a:avLst>
              <a:gd name="adj" fmla="val 2116"/>
            </a:avLst>
          </a:prstGeom>
          <a:solidFill>
            <a:srgbClr val="FFFFFF"/>
          </a:solidFill>
          <a:ln w="12700">
            <a:solidFill>
              <a:srgbClr val="DCE4E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066544"/>
            <a:ext cx="73152" cy="3611880"/>
          </a:xfrm>
          <a:prstGeom prst="rect">
            <a:avLst/>
          </a:prstGeom>
          <a:solidFill>
            <a:srgbClr val="2878EE"/>
          </a:solidFill>
          <a:ln w="12700">
            <a:solidFill>
              <a:srgbClr val="2878EE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6112" y="228600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822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데이터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96112" y="2706624"/>
            <a:ext cx="2999232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로그인 기반 리뷰 권한 적용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계정별 찜한 장소 유지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여행 코스 데이터 저장·공유 구조 마련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2066544"/>
            <a:ext cx="3456432" cy="3611880"/>
          </a:xfrm>
          <a:prstGeom prst="roundRect">
            <a:avLst>
              <a:gd name="adj" fmla="val 2116"/>
            </a:avLst>
          </a:prstGeom>
          <a:solidFill>
            <a:srgbClr val="FFFFFF"/>
          </a:solidFill>
          <a:ln w="12700">
            <a:solidFill>
              <a:srgbClr val="DCE4E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70832" y="2066544"/>
            <a:ext cx="73152" cy="3611880"/>
          </a:xfrm>
          <a:prstGeom prst="rect">
            <a:avLst/>
          </a:prstGeom>
          <a:solidFill>
            <a:srgbClr val="1D9B77"/>
          </a:solidFill>
          <a:ln w="12700">
            <a:solidFill>
              <a:srgbClr val="1D9B7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6864" y="228600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822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경험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26864" y="2706624"/>
            <a:ext cx="2999232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지도와 장소 카드 정보 구조 정리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장소 검색 결과를 리뷰 평점 기준으로 보강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지역 추천·검색 오류 대응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01584" y="2066544"/>
            <a:ext cx="3456432" cy="3611880"/>
          </a:xfrm>
          <a:prstGeom prst="roundRect">
            <a:avLst>
              <a:gd name="adj" fmla="val 2116"/>
            </a:avLst>
          </a:prstGeom>
          <a:solidFill>
            <a:srgbClr val="FFFFFF"/>
          </a:solidFill>
          <a:ln w="12700">
            <a:solidFill>
              <a:srgbClr val="DCE4E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01584" y="2066544"/>
            <a:ext cx="73152" cy="3611880"/>
          </a:xfrm>
          <a:prstGeom prst="rect">
            <a:avLst/>
          </a:prstGeom>
          <a:solidFill>
            <a:srgbClr val="8B63D9"/>
          </a:solidFill>
          <a:ln w="12700">
            <a:solidFill>
              <a:srgbClr val="8B63D9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57616" y="228600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822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기반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57616" y="2706624"/>
            <a:ext cx="2999232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Vercel 프런트 배포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Render Node.js API + PostgreSQL 연결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Android 확장을 위한 기본 프로젝트 준비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0080" y="59253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2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  |  “추천을 보는 서비스”에서 “로그인 후 데이터를 저장하는 서비스”로 전환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6464808"/>
            <a:ext cx="10927080" cy="0"/>
          </a:xfrm>
          <a:prstGeom prst="line">
            <a:avLst/>
          </a:prstGeom>
          <a:noFill/>
          <a:ln w="10160">
            <a:solidFill>
              <a:srgbClr val="DCE4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6547104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갈래말래 · Weekly Development Report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064240" y="6547104"/>
            <a:ext cx="502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2878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· THIS WEEK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40080" y="704088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822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장소에서 바로 “나만의 여행 코스”를 만들 수 있게 했습니다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2252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자동 추천 결과를 출발점으로 직접 선택·편집·저장하는 흐름입니다.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731520" y="2057400"/>
            <a:ext cx="2240280" cy="233172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0976" y="22860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878EE"/>
          </a:solidFill>
          <a:ln w="12700">
            <a:solidFill>
              <a:srgbClr val="2878EE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0976" y="234086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50976" y="2907792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822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 직접 짜기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50976" y="331927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목록 위에서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편집 모드 시작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054096" y="3218688"/>
            <a:ext cx="374904" cy="0"/>
          </a:xfrm>
          <a:prstGeom prst="line">
            <a:avLst/>
          </a:prstGeom>
          <a:noFill/>
          <a:ln w="19050">
            <a:solidFill>
              <a:srgbClr val="1D9B77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566160" y="2057400"/>
            <a:ext cx="2240280" cy="233172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85616" y="22860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878EE"/>
          </a:solidFill>
          <a:ln w="12700">
            <a:solidFill>
              <a:srgbClr val="2878EE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85616" y="234086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785616" y="2907792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822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장소 추가·제거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785616" y="331927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추천 카드에서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장소만 선택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888736" y="3218688"/>
            <a:ext cx="374904" cy="0"/>
          </a:xfrm>
          <a:prstGeom prst="line">
            <a:avLst/>
          </a:prstGeom>
          <a:noFill/>
          <a:ln w="19050">
            <a:solidFill>
              <a:srgbClr val="1D9B77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400800" y="2057400"/>
            <a:ext cx="2240280" cy="233172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20256" y="22860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878EE"/>
          </a:solidFill>
          <a:ln w="12700">
            <a:solidFill>
              <a:srgbClr val="2878EE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20256" y="234086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0256" y="2907792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822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순서·설명 편집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20256" y="331927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장소 순서를 바꾸고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 정보를 수정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723376" y="3218688"/>
            <a:ext cx="374904" cy="0"/>
          </a:xfrm>
          <a:prstGeom prst="line">
            <a:avLst/>
          </a:prstGeom>
          <a:noFill/>
          <a:ln w="19050">
            <a:solidFill>
              <a:srgbClr val="1D9B77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235440" y="2057400"/>
            <a:ext cx="2240280" cy="233172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454896" y="22860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D9B77"/>
          </a:solidFill>
          <a:ln w="12700">
            <a:solidFill>
              <a:srgbClr val="1D9B77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54896" y="234086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454896" y="2907792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822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완료하고 저장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454896" y="3319272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코스로 저장 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보기 상태 복귀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143000" y="4873752"/>
            <a:ext cx="9921240" cy="685800"/>
          </a:xfrm>
          <a:prstGeom prst="roundRect">
            <a:avLst>
              <a:gd name="adj" fmla="val 10667"/>
            </a:avLst>
          </a:prstGeom>
          <a:solidFill>
            <a:srgbClr val="E9F8F2"/>
          </a:solidFill>
          <a:ln w="12700">
            <a:solidFill>
              <a:srgbClr val="E9F8F2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89888" y="5056632"/>
            <a:ext cx="9418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6A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UX  |  수정 중에는 “완료하고 저장”과 “취소”를 명확히 분리해, 기존 자동 추천 코스를 실수로 덮어쓰지 않도록 설계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6464808"/>
            <a:ext cx="10927080" cy="0"/>
          </a:xfrm>
          <a:prstGeom prst="line">
            <a:avLst/>
          </a:prstGeom>
          <a:noFill/>
          <a:ln w="10160">
            <a:solidFill>
              <a:srgbClr val="DCE4E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547104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갈래말래 · Weekly Development Report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11064240" y="6547104"/>
            <a:ext cx="502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2878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· THIS WEEK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40080" y="704088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822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리뷰는 풍부하게, 추천 카드는 가볍게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2252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포함한 상세 경험은 별도 화면에서, 목록은 짧고 일정한 높이로 제공합니다.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40080" y="1755648"/>
            <a:ext cx="3730752" cy="420624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0116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43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작성·상세 보기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96112" y="2487168"/>
            <a:ext cx="3218688" cy="960120"/>
          </a:xfrm>
          <a:prstGeom prst="roundRect">
            <a:avLst>
              <a:gd name="adj" fmla="val 7619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" y="28163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78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첨부  +  별점  +  리뷰 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05456" y="3547872"/>
            <a:ext cx="0" cy="429768"/>
          </a:xfrm>
          <a:prstGeom prst="line">
            <a:avLst/>
          </a:prstGeom>
          <a:noFill/>
          <a:ln w="19050">
            <a:solidFill>
              <a:srgbClr val="2878EE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96112" y="4087368"/>
            <a:ext cx="3218688" cy="1143000"/>
          </a:xfrm>
          <a:prstGeom prst="roundRect">
            <a:avLst>
              <a:gd name="adj" fmla="val 6400"/>
            </a:avLst>
          </a:prstGeom>
          <a:solidFill>
            <a:srgbClr val="E9F8F2"/>
          </a:solidFill>
          <a:ln w="12700">
            <a:solidFill>
              <a:srgbClr val="E9F8F2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33856" y="434340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6A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내용·첨부 사진은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66A5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모달 안에서 스크롤 확인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08576" y="1755648"/>
            <a:ext cx="2743200" cy="42062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73752" y="201168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43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장소 카드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873752" y="2542032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182235"/>
          </a:solidFill>
          <a:ln w="12700">
            <a:solidFill>
              <a:srgbClr val="182235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73752" y="280720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장소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영역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73752" y="37673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최신 리뷰 1개만 미리보기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4873752" y="4096512"/>
            <a:ext cx="2194560" cy="292608"/>
          </a:xfrm>
          <a:prstGeom prst="roundRect">
            <a:avLst>
              <a:gd name="adj" fmla="val 25000"/>
            </a:avLst>
          </a:prstGeom>
          <a:solidFill>
            <a:srgbClr val="F5F7FA"/>
          </a:solidFill>
          <a:ln w="12700">
            <a:solidFill>
              <a:srgbClr val="F5F7FA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83480" y="4160520"/>
            <a:ext cx="1947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“분위기가 좋아요…”</a:t>
            </a:r>
            <a:endParaRPr lang="en-US" sz="780" dirty="0"/>
          </a:p>
        </p:txBody>
      </p:sp>
      <p:sp>
        <p:nvSpPr>
          <p:cNvPr id="19" name="Text 17"/>
          <p:cNvSpPr/>
          <p:nvPr/>
        </p:nvSpPr>
        <p:spPr>
          <a:xfrm>
            <a:off x="4873752" y="49194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E36C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380px / 모바일 470px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E36C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높이 고정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7607808" y="1755648"/>
            <a:ext cx="3941064" cy="42062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72984" y="201168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43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리뷰 전체보기 · 관리</a:t>
            </a:r>
            <a:endParaRPr lang="en-US" sz="1400" dirty="0"/>
          </a:p>
        </p:txBody>
      </p:sp>
      <p:pic>
        <p:nvPicPr>
          <p:cNvPr id="22" name="Image 0" descr="C:\Users\과잘라자과꾸꽐라콱자불라자\Where\presentation-profile-me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7576" y="2487168"/>
            <a:ext cx="1993392" cy="233172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0177272" y="3035808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 메뉴에서 진입 →</a:t>
            </a:r>
            <a:endParaRPr lang="en-US" sz="930" dirty="0"/>
          </a:p>
          <a:p>
            <a:pPr indent="0" marL="0">
              <a:buNone/>
            </a:pPr>
            <a:r>
              <a:rPr lang="en-US" sz="93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작성한 리뷰를 수정·삭제</a:t>
            </a:r>
            <a:endParaRPr lang="en-US" sz="930" dirty="0"/>
          </a:p>
        </p:txBody>
      </p:sp>
      <p:sp>
        <p:nvSpPr>
          <p:cNvPr id="24" name="Shape 21"/>
          <p:cNvSpPr/>
          <p:nvPr/>
        </p:nvSpPr>
        <p:spPr>
          <a:xfrm>
            <a:off x="640080" y="6464808"/>
            <a:ext cx="10927080" cy="0"/>
          </a:xfrm>
          <a:prstGeom prst="line">
            <a:avLst/>
          </a:prstGeom>
          <a:noFill/>
          <a:ln w="10160">
            <a:solidFill>
              <a:srgbClr val="DCE4E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6547104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갈래말래 · Weekly Development Report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11064240" y="6547104"/>
            <a:ext cx="502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2878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· STABILIZATION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40080" y="704088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822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중 보였던 오류를 “새로고침 없이” 회복하도록 수정했습니다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2252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환경의 일시적 장애와 UI 레이아웃 문제를 사용자 경험 기준으로 보완했습니다.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0771632" cy="941832"/>
          </a:xfrm>
          <a:prstGeom prst="roundRect">
            <a:avLst>
              <a:gd name="adj" fmla="val 77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1828800"/>
            <a:ext cx="91440" cy="941832"/>
          </a:xfrm>
          <a:prstGeom prst="rect">
            <a:avLst/>
          </a:prstGeom>
          <a:solidFill>
            <a:srgbClr val="2878EE"/>
          </a:solidFill>
          <a:ln w="12700">
            <a:solidFill>
              <a:srgbClr val="2878EE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99339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243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장소 연결 지연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657600" y="1993392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Render 절전 상태에서 API가 늦게 깨어남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60920" y="199339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878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목록 유지 + 자동 재시도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51560" y="2359152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657600" y="2359152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7360920" y="2359152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713232" y="3063240"/>
            <a:ext cx="10771632" cy="941832"/>
          </a:xfrm>
          <a:prstGeom prst="roundRect">
            <a:avLst>
              <a:gd name="adj" fmla="val 77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3063240"/>
            <a:ext cx="91440" cy="941832"/>
          </a:xfrm>
          <a:prstGeom prst="rect">
            <a:avLst/>
          </a:prstGeom>
          <a:solidFill>
            <a:srgbClr val="1D9B77"/>
          </a:solidFill>
          <a:ln w="12700">
            <a:solidFill>
              <a:srgbClr val="1D9B77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32278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243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리뷰가 쌓일수록 카드 확대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657600" y="3227832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본문이 카드 레이아웃을 계속 밀어냄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60920" y="322783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D9B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미리보기 + 고정 높이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51560" y="3593592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657600" y="3593592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7360920" y="3593592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13232" y="4297680"/>
            <a:ext cx="10771632" cy="941832"/>
          </a:xfrm>
          <a:prstGeom prst="roundRect">
            <a:avLst>
              <a:gd name="adj" fmla="val 77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" y="4297680"/>
            <a:ext cx="91440" cy="941832"/>
          </a:xfrm>
          <a:prstGeom prst="rect">
            <a:avLst/>
          </a:prstGeom>
          <a:solidFill>
            <a:srgbClr val="8B63D9"/>
          </a:solidFill>
          <a:ln w="12700">
            <a:solidFill>
              <a:srgbClr val="8B63D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51560" y="446227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2430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 메뉴가 카드에 가려짐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657600" y="4462272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레이어 쌓임 순서 충돌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360920" y="44622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8B63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z-index와 내부 스크롤 보정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51560" y="4828032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657600" y="4828032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360920" y="4828032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713232" y="5715000"/>
            <a:ext cx="10771632" cy="411480"/>
          </a:xfrm>
          <a:prstGeom prst="roundRect">
            <a:avLst>
              <a:gd name="adj" fmla="val 17778"/>
            </a:avLst>
          </a:prstGeom>
          <a:solidFill>
            <a:srgbClr val="182235"/>
          </a:solidFill>
          <a:ln w="12700">
            <a:solidFill>
              <a:srgbClr val="182235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0120" y="5815584"/>
            <a:ext cx="10241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 |  프런트엔드 프로덕션 빌드 성공 · Render /api/health 200 응답 확인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6464808"/>
            <a:ext cx="10927080" cy="0"/>
          </a:xfrm>
          <a:prstGeom prst="line">
            <a:avLst/>
          </a:prstGeom>
          <a:noFill/>
          <a:ln w="10160">
            <a:solidFill>
              <a:srgbClr val="DCE4E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547104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갈래말래 · Weekly Development Report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11064240" y="6547104"/>
            <a:ext cx="502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2878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· ARCHITECTURE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40080" y="704088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822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Vercel–Render–PostgreSQL로 분리한 웹 서비스 아키텍처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2252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프런트는 빠르게 배포하고, API·데이터·외부 지도 서비스는 독립적으로 운영합니다.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731520" y="214884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148840"/>
            <a:ext cx="2057400" cy="91440"/>
          </a:xfrm>
          <a:prstGeom prst="rect">
            <a:avLst/>
          </a:prstGeom>
          <a:solidFill>
            <a:srgbClr val="2878EE"/>
          </a:solidFill>
          <a:ln w="12700">
            <a:solidFill>
              <a:srgbClr val="2878EE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3774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2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브라우저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77824" y="2679192"/>
            <a:ext cx="1764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+ Vite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Kakao Map SDK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37560" y="214884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2148840"/>
            <a:ext cx="2057400" cy="91440"/>
          </a:xfrm>
          <a:prstGeom prst="rect">
            <a:avLst/>
          </a:prstGeom>
          <a:solidFill>
            <a:srgbClr val="2878EE"/>
          </a:solidFill>
          <a:ln w="12700">
            <a:solidFill>
              <a:srgbClr val="2878E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23774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2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83864" y="2679192"/>
            <a:ext cx="1764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프런트 배포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SPA 라우팅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0" y="2148840"/>
            <a:ext cx="221284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0" y="2148840"/>
            <a:ext cx="2212848" cy="91440"/>
          </a:xfrm>
          <a:prstGeom prst="rect">
            <a:avLst/>
          </a:prstGeom>
          <a:solidFill>
            <a:srgbClr val="1D9B77"/>
          </a:solidFill>
          <a:ln w="12700">
            <a:solidFill>
              <a:srgbClr val="1D9B77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237744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2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Render API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89904" y="26791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Node.js · 인증 · 코스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찜 · 리뷰 API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732520" y="141732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732520" y="1417320"/>
            <a:ext cx="2011680" cy="91440"/>
          </a:xfrm>
          <a:prstGeom prst="rect">
            <a:avLst/>
          </a:prstGeom>
          <a:solidFill>
            <a:srgbClr val="8B63D9"/>
          </a:solidFill>
          <a:ln w="12700">
            <a:solidFill>
              <a:srgbClr val="8B63D9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0" y="164592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2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878824" y="194767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· 코스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· 찜 데이터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8732520" y="34290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732520" y="3429000"/>
            <a:ext cx="2011680" cy="91440"/>
          </a:xfrm>
          <a:prstGeom prst="rect">
            <a:avLst/>
          </a:prstGeom>
          <a:solidFill>
            <a:srgbClr val="F5A24A"/>
          </a:solidFill>
          <a:ln w="12700">
            <a:solidFill>
              <a:srgbClr val="F5A24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0" y="365760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2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Kakao API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878824" y="395935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장소 검색 · 경로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데이터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816352" y="2633472"/>
            <a:ext cx="448056" cy="0"/>
          </a:xfrm>
          <a:prstGeom prst="line">
            <a:avLst/>
          </a:prstGeom>
          <a:noFill/>
          <a:ln w="19050">
            <a:solidFill>
              <a:srgbClr val="2878EE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422392" y="2633472"/>
            <a:ext cx="448056" cy="0"/>
          </a:xfrm>
          <a:prstGeom prst="line">
            <a:avLst/>
          </a:prstGeom>
          <a:noFill/>
          <a:ln w="19050">
            <a:solidFill>
              <a:srgbClr val="2878EE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183880" y="2487168"/>
            <a:ext cx="475488" cy="-548640"/>
          </a:xfrm>
          <a:prstGeom prst="line">
            <a:avLst/>
          </a:prstGeom>
          <a:noFill/>
          <a:ln w="19050">
            <a:solidFill>
              <a:srgbClr val="8B63D9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183880" y="2779776"/>
            <a:ext cx="475488" cy="1078992"/>
          </a:xfrm>
          <a:prstGeom prst="line">
            <a:avLst/>
          </a:prstGeom>
          <a:noFill/>
          <a:ln w="19050">
            <a:solidFill>
              <a:srgbClr val="F5A24A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2880360" y="2350008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0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541264" y="2350008"/>
            <a:ext cx="2560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0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/api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8348472" y="2057400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0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8302752" y="3447288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0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1188720" y="5074920"/>
            <a:ext cx="9784080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463040" y="5266944"/>
            <a:ext cx="9235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2878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  |  Vercel은 UI 배포를 담당하고, Render는 PORT·0.0.0.0 바인딩과 /api/health로 기동 상태를 확인합니다.</a:t>
            </a:r>
            <a:endParaRPr lang="en-US" sz="1040" dirty="0"/>
          </a:p>
        </p:txBody>
      </p:sp>
      <p:sp>
        <p:nvSpPr>
          <p:cNvPr id="35" name="Shape 33"/>
          <p:cNvSpPr/>
          <p:nvPr/>
        </p:nvSpPr>
        <p:spPr>
          <a:xfrm>
            <a:off x="640080" y="6464808"/>
            <a:ext cx="10927080" cy="0"/>
          </a:xfrm>
          <a:prstGeom prst="line">
            <a:avLst/>
          </a:prstGeom>
          <a:noFill/>
          <a:ln w="10160">
            <a:solidFill>
              <a:srgbClr val="DCE4E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547104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갈래말래 · Weekly Development Report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1064240" y="6547104"/>
            <a:ext cx="502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6975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822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766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AB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주, 여행 추천을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“내가 완성하는 경험”으로 확장했습니다.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13232" y="2743200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2878EE"/>
          </a:solidFill>
          <a:ln w="12700">
            <a:solidFill>
              <a:srgbClr val="2878E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2807208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234440" y="274320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코스 편집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429000" y="2761488"/>
            <a:ext cx="434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8D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결과에서 장소를 선택하고 저장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13232" y="3547872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1D9B77"/>
          </a:solidFill>
          <a:ln w="12700">
            <a:solidFill>
              <a:srgbClr val="1D9B77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361188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34440" y="3547872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리뷰·내 리뷰 관리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3566160"/>
            <a:ext cx="434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8D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경험 공유부터 수정·삭제까지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13232" y="4352544"/>
            <a:ext cx="310896" cy="310896"/>
          </a:xfrm>
          <a:prstGeom prst="roundRect">
            <a:avLst>
              <a:gd name="adj" fmla="val 23529"/>
            </a:avLst>
          </a:prstGeom>
          <a:solidFill>
            <a:srgbClr val="2878EE"/>
          </a:solidFill>
          <a:ln w="12700">
            <a:solidFill>
              <a:srgbClr val="2878EE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441655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34440" y="4352544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안정화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29000" y="4370832"/>
            <a:ext cx="434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8DA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재시도와 UI 오류 보완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549640" y="2770632"/>
            <a:ext cx="2441448" cy="1783080"/>
          </a:xfrm>
          <a:prstGeom prst="roundRect">
            <a:avLst>
              <a:gd name="adj" fmla="val 4103"/>
            </a:avLst>
          </a:prstGeom>
          <a:solidFill>
            <a:srgbClr val="24385A"/>
          </a:solidFill>
          <a:ln w="12700">
            <a:solidFill>
              <a:srgbClr val="24385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23960" y="308152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8AB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759952" y="3502152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사용성 검증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및 운영 모니터링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94944" y="5980176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DD3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갈래말래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갈래말래 주간 개발 발표</dc:title>
  <dc:subject>2026-09-03 주간 개발 발표</dc:subject>
  <dc:creator>갈래말래 개발팀</dc:creator>
  <cp:lastModifiedBy>갈래말래 개발팀</cp:lastModifiedBy>
  <cp:revision>1</cp:revision>
  <dcterms:created xsi:type="dcterms:W3CDTF">2026-09-03T02:38:00Z</dcterms:created>
  <dcterms:modified xsi:type="dcterms:W3CDTF">2026-09-03T02:38:00Z</dcterms:modified>
</cp:coreProperties>
</file>